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6FC"/>
    <a:srgbClr val="FCF1F0"/>
    <a:srgbClr val="F9F3F3"/>
    <a:srgbClr val="60AB99"/>
    <a:srgbClr val="09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8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8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0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9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7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6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5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1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93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1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34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33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9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4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38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41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8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7E14992-0EE9-4535-BD0D-7715989CE7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277A794-4518-4B9F-87EF-B3DE0220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39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FB5E-77E1-4E75-954D-C47C833191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PulseFit</a:t>
            </a:r>
            <a:r>
              <a:rPr lang="en-US" dirty="0"/>
              <a:t>: Business Intelligence Implementation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AED6F-7086-4C68-8894-24E8CCEC7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Transforming Fitness Data into Operational Excellence</a:t>
            </a:r>
          </a:p>
          <a:p>
            <a:r>
              <a:rPr lang="en-US" dirty="0"/>
              <a:t>By </a:t>
            </a:r>
            <a:r>
              <a:rPr lang="en-US" dirty="0" err="1"/>
              <a:t>Mohamedkarim</a:t>
            </a:r>
            <a:r>
              <a:rPr lang="en-US" dirty="0"/>
              <a:t> </a:t>
            </a:r>
            <a:r>
              <a:rPr lang="en-US" dirty="0" err="1"/>
              <a:t>Nsaibi</a:t>
            </a:r>
            <a:r>
              <a:rPr lang="en-US" dirty="0"/>
              <a:t>, Rayen Ghourabi, And </a:t>
            </a:r>
            <a:r>
              <a:rPr lang="en-US" dirty="0" err="1"/>
              <a:t>Jasser</a:t>
            </a:r>
            <a:r>
              <a:rPr lang="en-US" dirty="0"/>
              <a:t> </a:t>
            </a:r>
            <a:r>
              <a:rPr lang="en-US" dirty="0" err="1"/>
              <a:t>Sghaier</a:t>
            </a:r>
            <a:endParaRPr lang="en-US" dirty="0"/>
          </a:p>
          <a:p>
            <a:r>
              <a:rPr lang="en-US" dirty="0"/>
              <a:t>Junior BA/IT Project - BI &amp; DBM</a:t>
            </a:r>
          </a:p>
        </p:txBody>
      </p:sp>
    </p:spTree>
    <p:extLst>
      <p:ext uri="{BB962C8B-B14F-4D97-AF65-F5344CB8AC3E}">
        <p14:creationId xmlns:p14="http://schemas.microsoft.com/office/powerpoint/2010/main" val="2851625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83EDE-D8F4-469B-AB56-ABBDAFA9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476500"/>
            <a:ext cx="10991849" cy="1905000"/>
          </a:xfrm>
        </p:spPr>
        <p:txBody>
          <a:bodyPr>
            <a:normAutofit/>
          </a:bodyPr>
          <a:lstStyle/>
          <a:p>
            <a:r>
              <a:rPr lang="en-US" sz="4400" dirty="0"/>
              <a:t>Design &amp; Branding (</a:t>
            </a:r>
            <a:r>
              <a:rPr lang="en-US" sz="4400" dirty="0" err="1"/>
              <a:t>PulseFit</a:t>
            </a:r>
            <a:r>
              <a:rPr lang="en-US" sz="4400" dirty="0"/>
              <a:t> Identity) </a:t>
            </a:r>
          </a:p>
        </p:txBody>
      </p:sp>
    </p:spTree>
    <p:extLst>
      <p:ext uri="{BB962C8B-B14F-4D97-AF65-F5344CB8AC3E}">
        <p14:creationId xmlns:p14="http://schemas.microsoft.com/office/powerpoint/2010/main" val="357977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EF986-35D7-4FAD-A258-39802F2B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609725"/>
            <a:ext cx="9905998" cy="5248275"/>
          </a:xfrm>
        </p:spPr>
        <p:txBody>
          <a:bodyPr/>
          <a:lstStyle/>
          <a:p>
            <a:r>
              <a:rPr lang="en-US" sz="2800" b="1" i="0" dirty="0">
                <a:solidFill>
                  <a:srgbClr val="F0F6FC"/>
                </a:solidFill>
                <a:effectLst/>
                <a:latin typeface="-apple-system"/>
              </a:rPr>
              <a:t>Industry Description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:</a:t>
            </a:r>
            <a:r>
              <a:rPr lang="en-US" sz="2400" dirty="0"/>
              <a:t>The fitness and sports industry has grown rapidly due to rising health awareness and lifestyle changes. Fitness clubs operate in a competitive market where customer retention, service quality, and efficiency are key. As a result, data-driven decision-making is essential to understand member behavior, optimize operations, and increase profitability.</a:t>
            </a:r>
          </a:p>
          <a:p>
            <a:r>
              <a:rPr lang="en-US" sz="2800" b="1" i="0" dirty="0">
                <a:solidFill>
                  <a:srgbClr val="F0F6FC"/>
                </a:solidFill>
                <a:effectLst/>
                <a:latin typeface="-apple-system"/>
              </a:rPr>
              <a:t>Organization Description :</a:t>
            </a:r>
            <a:r>
              <a:rPr lang="en-US" sz="2400" dirty="0" err="1"/>
              <a:t>PulseFit</a:t>
            </a:r>
            <a:r>
              <a:rPr lang="en-US" sz="2400" dirty="0"/>
              <a:t> is a multi-branch fitness club operating across major cities in Tunisia. It offers various membership plans, classes, personal training, and modern equipment. While branches operate independently, they report to a central management team, and although data is collected across operations, it lacks a unified analytical view.</a:t>
            </a:r>
            <a:endParaRPr lang="en-US" sz="2800" b="1" i="0" dirty="0">
              <a:solidFill>
                <a:srgbClr val="F0F6FC"/>
              </a:solidFill>
              <a:effectLst/>
              <a:latin typeface="-apple-system"/>
            </a:endParaRPr>
          </a:p>
          <a:p>
            <a:endParaRPr lang="en-US" sz="2400" dirty="0"/>
          </a:p>
          <a:p>
            <a:endParaRPr lang="en-US" dirty="0"/>
          </a:p>
          <a:p>
            <a:endParaRPr lang="en-US" b="1" i="0" dirty="0">
              <a:solidFill>
                <a:srgbClr val="F0F6FC"/>
              </a:solidFill>
              <a:effectLst/>
              <a:latin typeface="-apple-system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8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7AC1-D070-4E54-BACB-E3DDEB11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4331" y="2476500"/>
            <a:ext cx="6383337" cy="1905000"/>
          </a:xfrm>
        </p:spPr>
        <p:txBody>
          <a:bodyPr>
            <a:normAutofit/>
          </a:bodyPr>
          <a:lstStyle/>
          <a:p>
            <a:r>
              <a:rPr lang="en-US" sz="4400" dirty="0"/>
              <a:t>The 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257057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621B-11D5-4F86-B09B-5AFC9B36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86677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0F6FC"/>
                </a:solidFill>
              </a:rPr>
              <a:t>Core Issues: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0661-C725-48E2-9295-15F752094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47825"/>
            <a:ext cx="9905998" cy="2124075"/>
          </a:xfrm>
        </p:spPr>
        <p:txBody>
          <a:bodyPr>
            <a:normAutofit/>
          </a:bodyPr>
          <a:lstStyle/>
          <a:p>
            <a:r>
              <a:rPr lang="en-US" sz="2400" dirty="0"/>
              <a:t>High member churn in the first 3 months. </a:t>
            </a:r>
          </a:p>
          <a:p>
            <a:r>
              <a:rPr lang="en-US" sz="2400" dirty="0"/>
              <a:t>Inconsistent revenue data across 5 branches. </a:t>
            </a:r>
          </a:p>
          <a:p>
            <a:r>
              <a:rPr lang="en-US" sz="2400" dirty="0"/>
              <a:t>Manual, error-prone tracking of class attendance.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C2C3C4-951D-4F05-B8EF-3A729720E297}"/>
              </a:ext>
            </a:extLst>
          </p:cNvPr>
          <p:cNvSpPr txBox="1">
            <a:spLocks/>
          </p:cNvSpPr>
          <p:nvPr/>
        </p:nvSpPr>
        <p:spPr>
          <a:xfrm>
            <a:off x="1141413" y="3771900"/>
            <a:ext cx="9905998" cy="86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F0F6FC"/>
                </a:solidFill>
              </a:rPr>
              <a:t>Objective: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071C6C-1E81-4320-B347-E004855A3F0E}"/>
              </a:ext>
            </a:extLst>
          </p:cNvPr>
          <p:cNvSpPr txBox="1">
            <a:spLocks/>
          </p:cNvSpPr>
          <p:nvPr/>
        </p:nvSpPr>
        <p:spPr>
          <a:xfrm>
            <a:off x="1141413" y="4643437"/>
            <a:ext cx="10279062" cy="1133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Build a scalable BI solution to visualize performance and drive retention.</a:t>
            </a:r>
          </a:p>
        </p:txBody>
      </p:sp>
    </p:spTree>
    <p:extLst>
      <p:ext uri="{BB962C8B-B14F-4D97-AF65-F5344CB8AC3E}">
        <p14:creationId xmlns:p14="http://schemas.microsoft.com/office/powerpoint/2010/main" val="224628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F743-47E9-4801-B15E-F0E1AF337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306" y="2476500"/>
            <a:ext cx="6783387" cy="1905000"/>
          </a:xfrm>
        </p:spPr>
        <p:txBody>
          <a:bodyPr>
            <a:normAutofit/>
          </a:bodyPr>
          <a:lstStyle/>
          <a:p>
            <a:r>
              <a:rPr lang="en-US" sz="4400" dirty="0"/>
              <a:t>The Data Journey (ETL)</a:t>
            </a:r>
          </a:p>
        </p:txBody>
      </p:sp>
    </p:spTree>
    <p:extLst>
      <p:ext uri="{BB962C8B-B14F-4D97-AF65-F5344CB8AC3E}">
        <p14:creationId xmlns:p14="http://schemas.microsoft.com/office/powerpoint/2010/main" val="249449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A27EA-F092-4D98-A29E-C504EA404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04937"/>
            <a:ext cx="9905998" cy="404812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0F6FC"/>
                </a:solidFill>
              </a:rPr>
              <a:t>Source Data :</a:t>
            </a:r>
            <a:r>
              <a:rPr lang="en-US" sz="2400" dirty="0"/>
              <a:t>6 Raw CSV datasets (Members, Visits, Payments, Trainers, Classes, Bookings).</a:t>
            </a:r>
          </a:p>
          <a:p>
            <a:r>
              <a:rPr lang="en-US" sz="2800" dirty="0">
                <a:solidFill>
                  <a:srgbClr val="F0F6FC"/>
                </a:solidFill>
              </a:rPr>
              <a:t>The Challenge :</a:t>
            </a:r>
            <a:r>
              <a:rPr lang="en-US" sz="2400" dirty="0"/>
              <a:t>Data was purposefully "dirty" (inconsistent phone formats, typos, orphan records). </a:t>
            </a:r>
            <a:r>
              <a:rPr lang="en-US" sz="2400" dirty="0">
                <a:solidFill>
                  <a:srgbClr val="F0F6FC"/>
                </a:solidFill>
              </a:rPr>
              <a:t> </a:t>
            </a:r>
          </a:p>
          <a:p>
            <a:r>
              <a:rPr lang="en-US" sz="2800" dirty="0">
                <a:solidFill>
                  <a:srgbClr val="F0F6FC"/>
                </a:solidFill>
              </a:rPr>
              <a:t>Solution :</a:t>
            </a:r>
            <a:r>
              <a:rPr lang="en-US" sz="2400" dirty="0"/>
              <a:t>Automate cleaning via Python (Pandas).</a:t>
            </a:r>
          </a:p>
          <a:p>
            <a:r>
              <a:rPr lang="en-US" sz="2800" dirty="0">
                <a:solidFill>
                  <a:srgbClr val="F0F6FC"/>
                </a:solidFill>
              </a:rPr>
              <a:t>Result :</a:t>
            </a:r>
            <a:r>
              <a:rPr lang="en-US" sz="2400" dirty="0"/>
              <a:t>100% referential integrity between Fact and Dimension tables.</a:t>
            </a:r>
            <a:endParaRPr lang="en-US" sz="2800" dirty="0">
              <a:solidFill>
                <a:srgbClr val="F0F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20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198C-5C2B-4242-926A-54FBF8BC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194" y="2476500"/>
            <a:ext cx="10107612" cy="1905000"/>
          </a:xfrm>
        </p:spPr>
        <p:txBody>
          <a:bodyPr>
            <a:normAutofit/>
          </a:bodyPr>
          <a:lstStyle/>
          <a:p>
            <a:r>
              <a:rPr lang="en-US" sz="4400" dirty="0"/>
              <a:t>Data Architecture (Star Schema)</a:t>
            </a:r>
          </a:p>
        </p:txBody>
      </p:sp>
    </p:spTree>
    <p:extLst>
      <p:ext uri="{BB962C8B-B14F-4D97-AF65-F5344CB8AC3E}">
        <p14:creationId xmlns:p14="http://schemas.microsoft.com/office/powerpoint/2010/main" val="267273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34DE75-F114-4ED6-AF12-F8F5A2EF7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3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3576C5-D9C3-4513-8A84-0E45AAB15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76487"/>
            <a:ext cx="9905998" cy="2105025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solidFill>
                  <a:srgbClr val="F0F6FC"/>
                </a:solidFill>
              </a:rPr>
              <a:t>Fact Tables :</a:t>
            </a:r>
            <a:r>
              <a:rPr lang="en-US" sz="2400" dirty="0" err="1"/>
              <a:t>FactPayments</a:t>
            </a:r>
            <a:r>
              <a:rPr lang="en-US" sz="2400" dirty="0"/>
              <a:t>, </a:t>
            </a:r>
            <a:r>
              <a:rPr lang="en-US" sz="2400" dirty="0" err="1"/>
              <a:t>FactVisits</a:t>
            </a:r>
            <a:r>
              <a:rPr lang="en-US" sz="2400" dirty="0"/>
              <a:t>, </a:t>
            </a:r>
            <a:r>
              <a:rPr lang="en-US" sz="2400" dirty="0" err="1"/>
              <a:t>FactBookings</a:t>
            </a:r>
            <a:r>
              <a:rPr lang="en-US" sz="2400" dirty="0"/>
              <a:t>. </a:t>
            </a:r>
          </a:p>
          <a:p>
            <a:r>
              <a:rPr lang="en-US" sz="2800" dirty="0">
                <a:solidFill>
                  <a:srgbClr val="F0F6FC"/>
                </a:solidFill>
              </a:rPr>
              <a:t>Dimension Tables :</a:t>
            </a:r>
            <a:r>
              <a:rPr lang="en-US" sz="2400" dirty="0" err="1"/>
              <a:t>DimMembers</a:t>
            </a:r>
            <a:r>
              <a:rPr lang="en-US" sz="2400" dirty="0"/>
              <a:t>, </a:t>
            </a:r>
            <a:r>
              <a:rPr lang="en-US" sz="2400" dirty="0" err="1"/>
              <a:t>DimTrainers</a:t>
            </a:r>
            <a:r>
              <a:rPr lang="en-US" sz="2400" dirty="0"/>
              <a:t>, </a:t>
            </a:r>
            <a:r>
              <a:rPr lang="en-US" sz="2400" dirty="0" err="1"/>
              <a:t>DimClasses</a:t>
            </a:r>
            <a:r>
              <a:rPr lang="en-US" sz="2400" dirty="0"/>
              <a:t>, </a:t>
            </a:r>
            <a:r>
              <a:rPr lang="en-US" sz="2400" dirty="0" err="1"/>
              <a:t>DimDate</a:t>
            </a:r>
            <a:r>
              <a:rPr lang="en-US" sz="2400" dirty="0"/>
              <a:t>.</a:t>
            </a:r>
          </a:p>
          <a:p>
            <a:r>
              <a:rPr lang="en-US" sz="2800" dirty="0">
                <a:solidFill>
                  <a:srgbClr val="F0F6FC"/>
                </a:solidFill>
              </a:rPr>
              <a:t>Design Choice :</a:t>
            </a:r>
            <a:r>
              <a:rPr lang="en-US" sz="2400" dirty="0"/>
              <a:t>Galaxy Schema implementation for optimal Power BI performance and time-intelligence calculation (MOM, YOY). </a:t>
            </a:r>
            <a:endParaRPr lang="en-US" sz="2800" dirty="0">
              <a:solidFill>
                <a:srgbClr val="F0F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5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23C8-2D2D-4C1B-AEB5-25D2B1C8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476500"/>
            <a:ext cx="9296400" cy="190500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Dashboard Overview (Executive Summary)</a:t>
            </a:r>
          </a:p>
        </p:txBody>
      </p:sp>
    </p:spTree>
    <p:extLst>
      <p:ext uri="{BB962C8B-B14F-4D97-AF65-F5344CB8AC3E}">
        <p14:creationId xmlns:p14="http://schemas.microsoft.com/office/powerpoint/2010/main" val="832024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13A74B-A335-405C-9A72-D09D91320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3428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FB2DC5-BA14-44DC-891F-A702421CD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"/>
            <a:ext cx="6096000" cy="3428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D5E29E-9ADD-4603-BA61-78E675E69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998"/>
            <a:ext cx="6096000" cy="3429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73DC29-2D3D-4FE3-BD6B-7E7382929A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3428998"/>
            <a:ext cx="6096001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5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503B-FF23-405F-BF66-030FB6CA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4840287" cy="8763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0F6FC"/>
                </a:solidFill>
              </a:rPr>
              <a:t>Key High-Level Metrics: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75F0E-57D4-445F-8F3D-96A549DE8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85925"/>
            <a:ext cx="9905998" cy="2105025"/>
          </a:xfrm>
        </p:spPr>
        <p:txBody>
          <a:bodyPr>
            <a:normAutofit/>
          </a:bodyPr>
          <a:lstStyle/>
          <a:p>
            <a:r>
              <a:rPr lang="en-US" sz="2400" dirty="0"/>
              <a:t>Total Revenue (Top KPI)</a:t>
            </a:r>
          </a:p>
          <a:p>
            <a:r>
              <a:rPr lang="en-US" sz="2400" dirty="0"/>
              <a:t>Active Members vs. Churn Rate</a:t>
            </a:r>
          </a:p>
          <a:p>
            <a:r>
              <a:rPr lang="fr-FR" sz="2400" dirty="0"/>
              <a:t>Branch-</a:t>
            </a:r>
            <a:r>
              <a:rPr lang="fr-FR" sz="2400" dirty="0" err="1"/>
              <a:t>wise</a:t>
            </a:r>
            <a:r>
              <a:rPr lang="fr-FR" sz="2400" dirty="0"/>
              <a:t> Revenue Distribution (Tunis, Sousse, Sfax, Nabeul, Bizerte). </a:t>
            </a: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39F8ED-C1A3-40BB-87BE-3314FD26EBE2}"/>
              </a:ext>
            </a:extLst>
          </p:cNvPr>
          <p:cNvSpPr txBox="1">
            <a:spLocks/>
          </p:cNvSpPr>
          <p:nvPr/>
        </p:nvSpPr>
        <p:spPr>
          <a:xfrm>
            <a:off x="1141413" y="4610100"/>
            <a:ext cx="9905998" cy="1333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Slicers for Branch and Membership Type to enable "on-the-fly" filtering.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DFA05C-FFAF-46F2-B12A-899B86EE005C}"/>
              </a:ext>
            </a:extLst>
          </p:cNvPr>
          <p:cNvSpPr txBox="1">
            <a:spLocks/>
          </p:cNvSpPr>
          <p:nvPr/>
        </p:nvSpPr>
        <p:spPr>
          <a:xfrm>
            <a:off x="1141413" y="3800475"/>
            <a:ext cx="4840287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F0F6FC"/>
                </a:solidFill>
              </a:rPr>
              <a:t>Interactive Features:</a:t>
            </a:r>
          </a:p>
        </p:txBody>
      </p:sp>
    </p:spTree>
    <p:extLst>
      <p:ext uri="{BB962C8B-B14F-4D97-AF65-F5344CB8AC3E}">
        <p14:creationId xmlns:p14="http://schemas.microsoft.com/office/powerpoint/2010/main" val="919404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8316-01D6-4427-A90F-ABFB08BF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6500"/>
            <a:ext cx="9905998" cy="1905000"/>
          </a:xfrm>
        </p:spPr>
        <p:txBody>
          <a:bodyPr>
            <a:normAutofit/>
          </a:bodyPr>
          <a:lstStyle/>
          <a:p>
            <a:r>
              <a:rPr lang="en-US" sz="4400" dirty="0"/>
              <a:t>Advanced Analytics (Deep Dive)</a:t>
            </a:r>
          </a:p>
        </p:txBody>
      </p:sp>
    </p:spTree>
    <p:extLst>
      <p:ext uri="{BB962C8B-B14F-4D97-AF65-F5344CB8AC3E}">
        <p14:creationId xmlns:p14="http://schemas.microsoft.com/office/powerpoint/2010/main" val="1356962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0C6F2AA-1500-4E71-9135-11791F12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523" y="2200274"/>
            <a:ext cx="4289558" cy="22955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FC1EBA-6E38-4DCC-8820-754DFD971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442" y="4385074"/>
            <a:ext cx="4289558" cy="24574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CD3F06-7673-4A76-AE68-7A32669F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00551"/>
            <a:ext cx="4306954" cy="24574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1CB866D-09B5-405D-A500-3FBA405C1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96" y="0"/>
            <a:ext cx="4289558" cy="22955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B491F16-7A81-4BE8-BE0A-3F03CBC1BD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442" y="-1"/>
            <a:ext cx="4289558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75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54B3-F4FD-4D27-9BFF-2B4304B7A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66925"/>
            <a:ext cx="9905998" cy="27241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0F6FC"/>
                </a:solidFill>
              </a:rPr>
              <a:t>Forecasting: </a:t>
            </a:r>
            <a:r>
              <a:rPr lang="en-US" sz="2400" dirty="0"/>
              <a:t>Predicting Revenue trends for the next quarter.</a:t>
            </a:r>
          </a:p>
          <a:p>
            <a:r>
              <a:rPr lang="en-US" sz="2800" dirty="0">
                <a:solidFill>
                  <a:srgbClr val="F0F6FC"/>
                </a:solidFill>
              </a:rPr>
              <a:t>Engagement Tracking: </a:t>
            </a:r>
            <a:r>
              <a:rPr lang="en-US" sz="2400" dirty="0"/>
              <a:t>Identifying "Dead Slots" vs. Peak Hours. </a:t>
            </a:r>
          </a:p>
          <a:p>
            <a:r>
              <a:rPr lang="en-US" sz="2800" dirty="0">
                <a:solidFill>
                  <a:srgbClr val="F0F6FC"/>
                </a:solidFill>
              </a:rPr>
              <a:t>Drill-through Capability: </a:t>
            </a:r>
            <a:r>
              <a:rPr lang="en-US" sz="2400" dirty="0"/>
              <a:t>Analyzing specific branch performance from a high-level view. </a:t>
            </a:r>
            <a:endParaRPr lang="en-US" sz="2800" dirty="0">
              <a:solidFill>
                <a:srgbClr val="F0F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04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D248-9E15-4EA5-8C83-E2BC18D5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519" y="2476500"/>
            <a:ext cx="9478962" cy="1905000"/>
          </a:xfrm>
        </p:spPr>
        <p:txBody>
          <a:bodyPr>
            <a:normAutofit/>
          </a:bodyPr>
          <a:lstStyle/>
          <a:p>
            <a:r>
              <a:rPr lang="en-US" sz="4400" dirty="0"/>
              <a:t>Business Insights &amp; Action Plan </a:t>
            </a:r>
          </a:p>
        </p:txBody>
      </p:sp>
    </p:spTree>
    <p:extLst>
      <p:ext uri="{BB962C8B-B14F-4D97-AF65-F5344CB8AC3E}">
        <p14:creationId xmlns:p14="http://schemas.microsoft.com/office/powerpoint/2010/main" val="447384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CFA49-FFA4-4DA1-AFE1-245E60A9C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700087"/>
            <a:ext cx="9905998" cy="1624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0F6FC"/>
                </a:solidFill>
              </a:rPr>
              <a:t>Observation:</a:t>
            </a:r>
          </a:p>
          <a:p>
            <a:pPr marL="0" indent="0">
              <a:buNone/>
            </a:pPr>
            <a:r>
              <a:rPr lang="en-US" sz="2400" dirty="0"/>
              <a:t>VIP members have a 40% higher retention rate than Monthly members. </a:t>
            </a:r>
            <a:endParaRPr lang="en-US" sz="2800" dirty="0">
              <a:solidFill>
                <a:srgbClr val="F0F6FC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449C58-FC50-42EA-AA24-37A70F943308}"/>
              </a:ext>
            </a:extLst>
          </p:cNvPr>
          <p:cNvSpPr txBox="1">
            <a:spLocks/>
          </p:cNvSpPr>
          <p:nvPr/>
        </p:nvSpPr>
        <p:spPr>
          <a:xfrm>
            <a:off x="1143001" y="3552825"/>
            <a:ext cx="9905998" cy="2105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Target "Annual" members with loyalty bonuses to reduce churn.</a:t>
            </a:r>
          </a:p>
          <a:p>
            <a:r>
              <a:rPr lang="en-US" sz="2400" dirty="0"/>
              <a:t>Optimize trainer scheduling in Nabeul based on weekend peak occupancy. </a:t>
            </a:r>
          </a:p>
          <a:p>
            <a:r>
              <a:rPr lang="en-US" sz="2400" dirty="0"/>
              <a:t>Implement automated alerts for "Inactive" members (10+ days since last visit).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51E53F-7794-4237-B610-AD942F4EE9C4}"/>
              </a:ext>
            </a:extLst>
          </p:cNvPr>
          <p:cNvSpPr txBox="1">
            <a:spLocks/>
          </p:cNvSpPr>
          <p:nvPr/>
        </p:nvSpPr>
        <p:spPr>
          <a:xfrm>
            <a:off x="1143001" y="2324099"/>
            <a:ext cx="3248024" cy="1109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solidFill>
                  <a:srgbClr val="F0F6FC"/>
                </a:solidFill>
              </a:rPr>
              <a:t>Recommendations:</a:t>
            </a:r>
          </a:p>
        </p:txBody>
      </p:sp>
    </p:spTree>
    <p:extLst>
      <p:ext uri="{BB962C8B-B14F-4D97-AF65-F5344CB8AC3E}">
        <p14:creationId xmlns:p14="http://schemas.microsoft.com/office/powerpoint/2010/main" val="4085870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2213-428E-4E3F-9E72-B946B97C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928" y="2476500"/>
            <a:ext cx="3944144" cy="1905000"/>
          </a:xfrm>
        </p:spPr>
        <p:txBody>
          <a:bodyPr>
            <a:normAutofit/>
          </a:bodyPr>
          <a:lstStyle/>
          <a:p>
            <a:r>
              <a:rPr lang="en-US" sz="4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50315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68DA-677D-4DCC-BD78-38969D2D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76400"/>
            <a:ext cx="9905998" cy="3505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0F6FC"/>
                </a:solidFill>
              </a:rPr>
              <a:t>Summary:</a:t>
            </a:r>
            <a:br>
              <a:rPr lang="en-US" dirty="0"/>
            </a:br>
            <a:r>
              <a:rPr lang="en-US" sz="2400" dirty="0"/>
              <a:t>We have moved </a:t>
            </a:r>
            <a:r>
              <a:rPr lang="en-US" sz="2400" dirty="0" err="1"/>
              <a:t>PulseFit</a:t>
            </a:r>
            <a:r>
              <a:rPr lang="en-US" sz="2400" dirty="0"/>
              <a:t> from manual guesses to data-driven certainty.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dirty="0">
                <a:solidFill>
                  <a:srgbClr val="F0F6FC"/>
                </a:solidFill>
              </a:rPr>
              <a:t>Outcome:</a:t>
            </a:r>
            <a:br>
              <a:rPr lang="en-US" dirty="0">
                <a:solidFill>
                  <a:srgbClr val="F0F6FC"/>
                </a:solidFill>
              </a:rPr>
            </a:br>
            <a:r>
              <a:rPr lang="en-US" sz="2700" dirty="0"/>
              <a:t>A robust, automated pipeline ready for scaling to new branches. </a:t>
            </a:r>
            <a:endParaRPr lang="en-US" sz="2700" dirty="0">
              <a:solidFill>
                <a:srgbClr val="F0F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205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20E5-3A8C-4859-AF1A-97016EB4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088" y="2476500"/>
            <a:ext cx="9267824" cy="1905000"/>
          </a:xfrm>
        </p:spPr>
        <p:txBody>
          <a:bodyPr>
            <a:normAutofit/>
          </a:bodyPr>
          <a:lstStyle/>
          <a:p>
            <a:r>
              <a:rPr lang="fr-FR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 YOU FOR YOUR ATTENTION</a:t>
            </a:r>
            <a:endParaRPr lang="en-US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064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312</TotalTime>
  <Words>502</Words>
  <Application>Microsoft Office PowerPoint</Application>
  <PresentationFormat>Widescreen</PresentationFormat>
  <Paragraphs>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-apple-system</vt:lpstr>
      <vt:lpstr>Arial</vt:lpstr>
      <vt:lpstr>Century Gothic</vt:lpstr>
      <vt:lpstr>Mesh</vt:lpstr>
      <vt:lpstr>PulseFit: Business Intelligence Implementation </vt:lpstr>
      <vt:lpstr>Design &amp; Branding (PulseFit Identity) </vt:lpstr>
      <vt:lpstr>PowerPoint Presentation</vt:lpstr>
      <vt:lpstr>The Business Problem</vt:lpstr>
      <vt:lpstr>Core Issues:</vt:lpstr>
      <vt:lpstr>The Data Journey (ETL)</vt:lpstr>
      <vt:lpstr>PowerPoint Presentation</vt:lpstr>
      <vt:lpstr>Data Architecture (Star Schema)</vt:lpstr>
      <vt:lpstr>PowerPoint Presentation</vt:lpstr>
      <vt:lpstr>PowerPoint Presentation</vt:lpstr>
      <vt:lpstr>Dashboard Overview (Executive Summary)</vt:lpstr>
      <vt:lpstr>PowerPoint Presentation</vt:lpstr>
      <vt:lpstr>Key High-Level Metrics:</vt:lpstr>
      <vt:lpstr>Advanced Analytics (Deep Dive)</vt:lpstr>
      <vt:lpstr>PowerPoint Presentation</vt:lpstr>
      <vt:lpstr>PowerPoint Presentation</vt:lpstr>
      <vt:lpstr>Business Insights &amp; Action Plan </vt:lpstr>
      <vt:lpstr>PowerPoint Presentation</vt:lpstr>
      <vt:lpstr>Conclusion</vt:lpstr>
      <vt:lpstr>Summary: We have moved PulseFit from manual guesses to data-driven certainty.    Outcome: A robust, automated pipeline ready for scaling to new branches. 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PulseFit: Business Intelligence Implementation</dc:title>
  <dc:creator>rayen ghourabi</dc:creator>
  <cp:lastModifiedBy>rayen ghourabi</cp:lastModifiedBy>
  <cp:revision>16</cp:revision>
  <dcterms:created xsi:type="dcterms:W3CDTF">2026-01-05T17:54:24Z</dcterms:created>
  <dcterms:modified xsi:type="dcterms:W3CDTF">2026-01-05T23:33:00Z</dcterms:modified>
</cp:coreProperties>
</file>